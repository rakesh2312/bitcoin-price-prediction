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56" r:id="rId5"/>
    <p:sldId id="257" r:id="rId6"/>
    <p:sldId id="258" r:id="rId7"/>
    <p:sldId id="261" r:id="rId8"/>
    <p:sldId id="288" r:id="rId9"/>
    <p:sldId id="289" r:id="rId10"/>
    <p:sldId id="306" r:id="rId11"/>
    <p:sldId id="290" r:id="rId12"/>
    <p:sldId id="321" r:id="rId13"/>
    <p:sldId id="322" r:id="rId14"/>
    <p:sldId id="323" r:id="rId15"/>
    <p:sldId id="324" r:id="rId16"/>
    <p:sldId id="325" r:id="rId17"/>
    <p:sldId id="326" r:id="rId18"/>
    <p:sldId id="328" r:id="rId19"/>
    <p:sldId id="327" r:id="rId20"/>
    <p:sldId id="294" r:id="rId21"/>
    <p:sldId id="298" r:id="rId22"/>
    <p:sldId id="313" r:id="rId23"/>
    <p:sldId id="329" r:id="rId24"/>
    <p:sldId id="301" r:id="rId25"/>
    <p:sldId id="349" r:id="rId26"/>
    <p:sldId id="331" r:id="rId27"/>
    <p:sldId id="332" r:id="rId28"/>
    <p:sldId id="333" r:id="rId29"/>
    <p:sldId id="334" r:id="rId30"/>
    <p:sldId id="304" r:id="rId31"/>
    <p:sldId id="335" r:id="rId32"/>
    <p:sldId id="348" r:id="rId33"/>
    <p:sldId id="2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3136392"/>
            <a:ext cx="7852724" cy="50292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7" y="3721608"/>
            <a:ext cx="3495877" cy="34836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Rakesh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Choudhary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44065"/>
            <a:ext cx="7781544" cy="85905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264484"/>
            <a:ext cx="6803136" cy="3069516"/>
          </a:xfrm>
        </p:spPr>
        <p:txBody>
          <a:bodyPr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4"/>
            <a:ext cx="6718300" cy="3907197"/>
          </a:xfrm>
        </p:spPr>
        <p:txBody>
          <a:bodyPr/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robust forecasting model to predict Bitcoin prices using SARIMA, Random Forest,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models. By combining time series, machine learning, and ensemble methods, the model will enhance forecasting accuracy, capture complex price movements, and provide valuable insights into cryptocurrency market trends.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enable data-driven decision-making by helping businesses and traders anticipate price fluctuations, optimize trading strategies, and manage risk more effectively.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improved price predictions, companies can proactively adjust their investment strategies, mitigate potential losses, and maximize returns in the volatile Bitcoin market.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8"/>
            <a:ext cx="11214099" cy="1119654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7 columns with detailed bitcoin related information which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3566 entries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6 columns with float data types and 1 column with object data types.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feature is ‘Close’ column.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640907"/>
            <a:ext cx="5561854" cy="140217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date of the recorded Bitcoin price data.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opening price of Bitcoin for that day.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highest price Bitcoin reached during that day.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lowest price Bitcoin reached during that day.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AB50E9-D922-B621-7535-2642C8C6C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006" y="4146976"/>
            <a:ext cx="7338696" cy="1950889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3693D37-A38D-0A47-C480-A5B20EC4AE2E}"/>
              </a:ext>
            </a:extLst>
          </p:cNvPr>
          <p:cNvSpPr txBox="1">
            <a:spLocks/>
          </p:cNvSpPr>
          <p:nvPr/>
        </p:nvSpPr>
        <p:spPr>
          <a:xfrm>
            <a:off x="6006354" y="2640906"/>
            <a:ext cx="5561854" cy="1402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closing price of Bitcoin for that day.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 Close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adjusted closing price, which accounts for any corporate actions like stock splits or dividends.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total number of Bitcoin units traded during that day.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F5A6-04E8-C37A-0ADF-0C37356D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8673A-8642-DB28-35A4-EC5E41C4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BAADE6-D809-32F5-9F57-296429A5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AF4216-4A1C-5867-AA79-5F893D84E31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2" y="1417357"/>
            <a:ext cx="7525122" cy="2011643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Columns: There is a column named ‘Adj Close’ which have same values like in ‘Close’ column in the dataset.</a:t>
            </a:r>
            <a:r>
              <a:rPr lang="fr-F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column is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feasible.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 Values: There is no duplicates values in the dataset.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There is no missing values in the dataset.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checking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&amp; duplicates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values, the updated dataset size is 3566.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83D72-9787-ADC1-CE3F-C3D1C50BD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99" y="3702774"/>
            <a:ext cx="4033456" cy="1910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01D546-F329-3190-BBEA-37AC98EFD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976" y="3702774"/>
            <a:ext cx="3450696" cy="11019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FC12CE-6A94-FF90-F4A4-ECC6BDFC1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693" y="1417357"/>
            <a:ext cx="3097907" cy="28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2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967C-81BD-5634-8CCF-AC5503C7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E2E663-02EB-CD52-B246-B308783F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539851-800C-8CE1-B578-B2043C14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4AE84D-ED77-43DF-C672-EBE8AB725DA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7"/>
            <a:ext cx="6619688" cy="2361631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'Date' column: Formatting the 'Date' column to properly convert it into datetime objects for accurate time series operations.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'Date' as index: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'Date' as the index organizes the dataset chronologically for time-based analysis and modeling.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by ‘Date’ index: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the index ensures the data is in proper time order, which is crucial for accurate forecasting and evaluation.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58B305-467D-E73A-1AB9-57667FD1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553" y="1417358"/>
            <a:ext cx="4309047" cy="2361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A5DE8A-FAA9-3C04-5B93-E4F05366F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01" y="3778988"/>
            <a:ext cx="6081287" cy="22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7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5BA5-6055-C554-27B3-E7CA3CAC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1E572E-2E0A-7D96-1D0F-45977768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1C633-F342-CA70-38B5-3AEFC764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6CDB85-AF3E-A8C0-0D52-12BD1D7361A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8"/>
            <a:ext cx="6440394" cy="1944407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Resampling: Weekly Resampling aggregates the daily Bitcoin price data into weekly averages, which helps smooth out short-term volatility and random fluctuations.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time series more stable, easier to analyze, and better suited for building reliable forecasting models.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doing weekly resampling, the updated dataset size is 510.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C5D71F-5ECC-57AC-10B3-3ABF41418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343" y="1813529"/>
            <a:ext cx="3664057" cy="1543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AA3FB3-816F-4145-CEA0-806ED3F75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6" y="3700667"/>
            <a:ext cx="6248942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5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AB1A-7C85-D5D3-953C-34E53EA8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BC581C-673A-20B6-E788-58E7B204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3623E-137B-3E49-B8A0-64771AF7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916702-F453-4015-0493-8E5B6DC0346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1" y="1417357"/>
            <a:ext cx="6763124" cy="3441514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new features were created to capture important patterns in the Bitcoin price movements: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‘Return’: Weekly percentage change in closing price (captures short-term momentum).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‘MA4’ &amp; ‘MA12’: 4-week and 12-week moving averages (identify short-term and medium-term trends).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‘Volatility’: 4-week standard deviation of closing price (reflects market uncertainty and risk).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‘Lag_1’ &amp; ‘Lag_2’: Past closing prices (capture temporal dependencies).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doing feature engineering, the updated dataset size is 499.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0D0B6-CC87-26C4-DD34-145CFEE80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625" y="1792006"/>
            <a:ext cx="4753167" cy="2468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6F1A5B-5314-7742-EEDD-949C8BC34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59" y="4858871"/>
            <a:ext cx="9850182" cy="180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3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81A6-6C96-EEBF-C458-D45D75E8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3D4A39-49A0-D50D-3F66-3D825451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2201D2-A25F-254A-CDC8-216CE688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1C4276-9140-6D0F-B99B-FE8CF0B7933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 Movements Over Time (Open, High, Low, Close) - (Weekly).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EB079-6FFE-B4CF-151A-9443E7DBB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091484"/>
            <a:ext cx="94869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1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C2704-6FD6-BF26-1437-152263F2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195CFB-0828-BD92-6609-138CA97E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BFB9B-CEA1-A62E-A207-49A8424B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F649F7-84FD-1800-BF74-BC0B249F502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Trading Volume Over Time (Weekly).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4D77E7-447B-40E2-1B50-A2BFF9A2E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091484"/>
            <a:ext cx="94869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C5A9-656E-6D10-151E-C20BF0E2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E8512B-8033-03C5-B07B-EEB35D87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5E6A1-81C3-0DAE-5587-9ABCA0F4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1F5235-157F-F708-D1C8-050C2C5C7FA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Close Price with Moving Averages (Weekly).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3FECC-61ED-5881-F41A-927FAE1D8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091484"/>
            <a:ext cx="94869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F2DF-9B35-6EE9-98D5-43FBE091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9AD98-A430-9EC1-6B89-B8D2F7CB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EC5B44-EDB7-CC59-9FA0-CC460C30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2805A7-DE95-24A3-D571-0B69377646E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4-Week Rolling Volatility Over Time (Weekly).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A7BA6A-7E2B-6D6B-2811-DCDD1B899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091484"/>
            <a:ext cx="94869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1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F329-9EAA-63A1-C9B8-5D0241E2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2550BA-DB61-2FAD-F525-EA4C7BBD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F9712-C40C-FE46-293E-7ED787FF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BFD8D3-4F16-3FE8-F405-F76B008802D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Trading Returns Over Time (Weekly).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966AA-BA96-1828-94E5-96DF6FDC7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091484"/>
            <a:ext cx="94869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1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3EFE-1195-2274-940C-C68C7266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62C1A0-3957-A7C4-8665-10F7FC56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6A057E-0C84-D626-FA52-3D760E8B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1E99F0-8DFA-6023-494E-C3086502BF4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of Close Price vs MA4 and MA12.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DC99A-843D-6233-6791-0AE0A40C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27" y="2371464"/>
            <a:ext cx="5173756" cy="3069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CE4B38-BA9D-95CC-C92C-6AEACE2EF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19" y="2371463"/>
            <a:ext cx="5173756" cy="306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03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B723-0CE0-2161-557E-BDC69A6B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7F865B-5575-C2C2-9175-20653960B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7530B2-0F5E-34BF-A674-3D673AD3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ADCF87-D091-A1E7-FF94-5CB3293F9A3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of Close Price vs Lag1 and Lag2.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78648-6502-121B-25A5-016962A0A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25" y="2371463"/>
            <a:ext cx="5173756" cy="30691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CF926A-0316-729A-2435-AE3F027C6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21" y="2371462"/>
            <a:ext cx="5173756" cy="306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2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0C92-6C8D-AD36-95F1-942EA989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C5E7BD-9D78-CF8A-4C24-B987A821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0A8F08-0303-1DF8-3D3C-A11CD078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768D9E-6E0C-4650-824F-6A86BF47766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of Close Price vs Volatility and Return.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A949E-BCD5-6BD8-E8AE-3C6380D0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25" y="2371463"/>
            <a:ext cx="5173756" cy="30691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44DBD4-9E76-786F-77BC-9CCEDEEE6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21" y="2371463"/>
            <a:ext cx="5173756" cy="306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3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683D4-FA95-95CA-2B3C-574B6AE0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946312-24E9-12DE-8767-64691EE3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7F6870-DEB4-3BA6-E1FE-3A1E866B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960FD1-8571-607D-4E1B-84CF10AD932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1" y="1417357"/>
            <a:ext cx="3768911" cy="3253255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 is used to get correlation between all features and ‘Close’ column.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‘High’, ‘Open’, ‘Low’, ‘Lag_1’, ‘MA4’, ‘Lag_2’, ‘MA12’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high correlation with ‘Close’ column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‘Volatility’, ‘Volume’ have moderate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with ‘Close’ column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‘Return’ has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negligible correlation with ‘Close’ column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A7AD0-ABF6-7B02-4DBC-A53793374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045" y="1543983"/>
            <a:ext cx="2333881" cy="2603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9430C-6704-2A90-C91D-84C7773EF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83" y="5009513"/>
            <a:ext cx="6312843" cy="4179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D9D9AE-CF5F-E87C-831E-9EE0ED7A8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559" y="1543983"/>
            <a:ext cx="4564041" cy="397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7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047A4-64FB-BCA9-4AC9-FB3DC478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098DAC-81DF-635E-430C-BF1160D8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E30330-0E1F-D263-9D92-CDDF22AD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BF5C8E-F3E0-C15E-0101-9144CA78E1C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1" y="1417358"/>
            <a:ext cx="4737100" cy="3816731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Data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step, we divided the dataset into two parts: X and y.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contains all the independent variables, which are the features used to make predictions.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Meanwhile, y represents the dependent variable or target variable, which is the outcome we want to predict.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Train-Test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Step, the dataset was split into training and testing sets.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80:20 ratio was used, with 80% of the data allocated to training and 20% to testing, and the test size set to 0.2 and the shuffle parameter set to false to prevent shuffling of the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EA889-33E8-CF42-E2E0-FBDF0E1B8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2431505"/>
            <a:ext cx="6680193" cy="199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3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08955-90F5-35F5-8F89-BDA90CAE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F15C5A-36A2-DAC6-4F07-3B1DA338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30279-7AF7-F1FB-DD4A-BC96BC42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AF33A0-06B8-87B2-7886-17844430E0C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354604"/>
            <a:ext cx="11214100" cy="4897717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Model Selection step, we have to select models for forecasting of ‘Close’ metric to evaluate Bitcoin Price Prediction Performance.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this is a time series regression problem, appropriate models were selected to capture trends, seasonality, and complex patterns in the data.</a:t>
            </a:r>
          </a:p>
          <a:p>
            <a:pPr algn="l"/>
            <a:endParaRPr lang="en-US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SARIMA (Seasonal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Moving Average):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extension of ARIMA designed to model both non-seasonal and seasonal patterns in time series data. 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Captures trends, seasonality, and autocorrelations; suitable for data with regular seasonal cycles.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Needs careful parameter tuning; assumes linear patterns and can struggle with highly irregular data.</a:t>
            </a:r>
          </a:p>
          <a:p>
            <a:pPr algn="l"/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non-linear relationships by leveraging ensemble learning.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Robust to noise, captures complex patterns, and performs well on large datasets.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Higher computational cost and less interpretability compared to traditional time series models.</a:t>
            </a:r>
          </a:p>
        </p:txBody>
      </p:sp>
    </p:spTree>
    <p:extLst>
      <p:ext uri="{BB962C8B-B14F-4D97-AF65-F5344CB8AC3E}">
        <p14:creationId xmlns:p14="http://schemas.microsoft.com/office/powerpoint/2010/main" val="208045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51BA-7F18-6594-CD43-C5866E34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43A0CB-FDEF-A75C-117B-F45C1D93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153301-0E8B-D819-C42D-436AAFEC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F31450-C3A1-2A48-85CD-99BCB68F774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7"/>
            <a:ext cx="11214100" cy="4897717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of the model, Gradient Boosting Model was used for forecasting ‘Close’ metric by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complex patterns in the data.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 (Extreme Gradient Boosting for Regression):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powerful gradient boosting model designed for regression tasks on structured data.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Handles complex non-linear relationships, prevents overfitting through regularization, and offers high prediction accuracy.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Computationally demanding and sensitive to hyperparameter choices.</a:t>
            </a:r>
          </a:p>
          <a:p>
            <a:pPr algn="l"/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approach combining two models (Random Forest Regressor &amp;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Regressor) was used to leverage their strengths and improve forecasting accuracy.</a:t>
            </a:r>
          </a:p>
        </p:txBody>
      </p:sp>
    </p:spTree>
    <p:extLst>
      <p:ext uri="{BB962C8B-B14F-4D97-AF65-F5344CB8AC3E}">
        <p14:creationId xmlns:p14="http://schemas.microsoft.com/office/powerpoint/2010/main" val="82019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5442-F4CC-54CC-BEA6-DA93698A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ED1E96-7FD6-5CCE-CE83-0CCA3A2C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148A9-45EF-FA13-B2D7-A3788E3E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8F7AF5-641F-9959-9EA1-D885FF9B115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4" y="1920287"/>
            <a:ext cx="4064747" cy="3017427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of SARIMA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R² score of 0.1228, indicating weak explanatory power for the variance in Bitcoin prices.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15,807.80 and MAE: 13,737.09, suggesting significant average prediction errors.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SARIMA model is not well performed.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8742325-4F72-D425-47DE-12A544FD4E60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11214100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SARIMA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8CF8A-DDF7-3C1E-4EA2-E88EE24B7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741" y="1920287"/>
            <a:ext cx="7047763" cy="36180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8F22AC-7941-3732-D741-1E47459DF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802" y="5021861"/>
            <a:ext cx="1966130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0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5704-A496-D97D-A142-7545A599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16380-ED54-2615-448C-C891259CC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81414D-0CF9-AFF4-8DE1-6FE06DAD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665B46-9A20-1D13-C0BA-A08F8DD214F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4" y="1920287"/>
            <a:ext cx="4064747" cy="3413713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of SARIMA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improved R² score of 0.5483, indicating moderate ability to explain the variance in Bitcoin prices.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11,343.23 and MAE: 9,970.47, reflecting reduced average prediction errors compared to the initial SARIMA model.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SARIMA model is not well performed even after hyperparameter tuning.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BD2D801-416D-9962-C709-8B3EFC9F3F90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11214100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Tuned SARIMA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CFFA8-57F9-AF55-CC2C-E86BEEC74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71" y="1920287"/>
            <a:ext cx="7039433" cy="3613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C190DB-C05D-1FC2-A3C1-56AA8D66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071" y="5238490"/>
            <a:ext cx="2171888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42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D18E-FAFA-0580-7D44-D025B8AD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FC1BDD-C383-12AD-8BA2-C9ABAA02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687B2-9546-1518-C3B8-3D9CD949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C962E0-4AE7-D931-6FD1-3D04CECA7DE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4" y="1920287"/>
            <a:ext cx="4064747" cy="3017427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of RF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 high R² score of 0.9885, demonstrating excellent ability to explain the variance in Bitcoin prices.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1,813.68 and MAE: 1,099.40, indicating low average prediction errors and strong overall performance.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RF model is not well performed.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7B98397-3696-C948-3DA7-CA33206BE175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11214100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7C71E-AFDB-156B-CA04-33B8C313B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383" y="1917861"/>
            <a:ext cx="7167121" cy="3022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73B4AA-819D-4753-DE04-60F6EB5E7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03" y="4937714"/>
            <a:ext cx="2461473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2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30A28-9F88-D41B-7FC8-131473E2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D59E22-EB48-7E5D-31E9-54865ECA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736023-FE0B-5A1D-AB5A-E7136A21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31D668-B9BF-EE98-2FCA-993BD7B71DB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4" y="1920287"/>
            <a:ext cx="4064747" cy="3216489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of RF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improved R² score of 0.9889, showing excellent predictive performance with even better variance explanation.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1,779.28 and MAE: 1,089.16, reflecting slightly lower prediction errors after tuning.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RF model is performed good after hyperparameter tuning.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B0EE550-3D36-B8EF-1A89-EC7D1041CF35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11214100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Tuned Random Forest Regressor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686C77-BD56-4DE6-DA3A-226DCE2D5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65" y="5136776"/>
            <a:ext cx="2804403" cy="929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F90734-77C8-E888-E2A1-805BC91D5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891" y="1920286"/>
            <a:ext cx="7155613" cy="301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8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BD3C-60AA-C163-0C90-DF8A18FAC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5AF8C0-BA5B-D04A-2334-D512414D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5D1EA-47C0-0DF2-1B5A-6D40AAD1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CF8BBF-83D6-C1E1-19EA-4AB4C1F8062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4" y="1920287"/>
            <a:ext cx="4064747" cy="3198560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of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R² score of 0.9913, indicating outstanding ability to capture variance in Bitcoin prices.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1,575.64 and MAE: 1,141.92, demonstrating very low average prediction errors and strong model accuracy.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well performed.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1AD6F92-CBFB-CAE8-2A2C-900A69DFD069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11214100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3D5E00-F8E2-F54C-1840-97C94C23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891" y="1920287"/>
            <a:ext cx="7155613" cy="3017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893EB6-69B5-AA96-27E5-EDCFD912B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336" y="5118847"/>
            <a:ext cx="1867062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2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6E42-7326-B493-1CCF-1F96E129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FC5EE5-E398-7BA5-5F8C-0BD4D572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1208E0-062E-C75C-4CC6-E5DC72D7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987F50-8E42-F796-C05B-7E8F9444249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4" y="1920288"/>
            <a:ext cx="4064747" cy="3216488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of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improved R² score of 0.9948, showcasing exceptional predictive power and perfect variance explanation.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 1,218.63 and MAE: 748.50, indicating significantly reduced prediction errors after tuning.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performed good after hyperparameter tuning.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944356B-DAAD-6882-23FE-F44089F304E5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11214100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Tuned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Regressor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4D0294-DB25-4A53-99BB-AFCEBE68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99" y="5136776"/>
            <a:ext cx="2263336" cy="9678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AC119A-C6C7-B4F6-38B2-9A4446D86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891" y="1920287"/>
            <a:ext cx="7155613" cy="301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7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E7A8-E724-FB9B-CB9B-5DB55DE2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57B797-3263-1F9A-AC6B-95569A3A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E104ED-1DEA-0596-FB7F-112664AD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F07489-23BF-9CF3-8927-0E421D017A2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9" y="1417357"/>
            <a:ext cx="11303002" cy="535531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of Feature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from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Ensemble Model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which features have more importance in the model.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880DCFF-65C4-D4CB-C037-DC0EF8967FDC}"/>
              </a:ext>
            </a:extLst>
          </p:cNvPr>
          <p:cNvSpPr txBox="1">
            <a:spLocks/>
          </p:cNvSpPr>
          <p:nvPr/>
        </p:nvSpPr>
        <p:spPr>
          <a:xfrm>
            <a:off x="444500" y="2074338"/>
            <a:ext cx="5366390" cy="35644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‘High’ feature has the highest importance, followed by ‘Low’ and ‘Open’, indicating that daily price levels are the most significant factors in predicting Bitcoin's weekly closing price.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‘MA4’ and ‘Lag_1’ show moderate importance, suggesting that short-term trends and immediate past prices contribute to the model’s forecasting ability.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‘Lag_2’ has minimal impact, while ‘MA12’, ‘Volume’, and ‘Volatility’ show negligible importance compared to the top predictors in the Weighted Ensemble model.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8E33B2-748D-99AE-D163-D67043E98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373" y="2074338"/>
            <a:ext cx="5646127" cy="343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8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FC8E-DB77-B449-4B06-CFA68A9F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09E18-6BD9-B5F1-89CB-3E8D1C26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D59E29-88AB-79E8-35AC-D0A7DAF0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E3516C-8F5B-E076-DD41-6A719F4D43D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345639"/>
            <a:ext cx="11214100" cy="4897718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 Insights: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‘High’, ‘Low’, and ‘Open’ prices are the top predictors, indicating the weekly price range is crucial for forecasting.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‘MA4’ and ‘Lag_1’ have moderate importance, reflecting short-term trends and recent price movements.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‘Lag_2’, ‘MA12’, ‘Volume’, and ‘Volatility’ have minimal impact, suggesting long-term averages and market uncertainty are less influential.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market activity has more influence on predicting weekly Bitcoin closing prices than historical trends or volatility.</a:t>
            </a:r>
          </a:p>
          <a:p>
            <a:pPr algn="l">
              <a:lnSpc>
                <a:spcPct val="100000"/>
              </a:lnSpc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(tuned) showed the best predictive power, demonstrating excellent performance in forecasting.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(tuned) effectively captured complex, non-linear patterns, contributing strong results.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SARIMA struggled with Bitcoin's volatility and non-linear behavior, resulting in weak performance.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weighted ensemble of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 combined predictions to improve accuracy and robustness.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model insights and feature importance enhanced forecasting and understanding of Bitcoin price drivers.</a:t>
            </a:r>
          </a:p>
        </p:txBody>
      </p:sp>
    </p:spTree>
    <p:extLst>
      <p:ext uri="{BB962C8B-B14F-4D97-AF65-F5344CB8AC3E}">
        <p14:creationId xmlns:p14="http://schemas.microsoft.com/office/powerpoint/2010/main" val="175363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DD08-9338-00A8-9092-0A4C87E5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2974F1-6D3D-3FFB-E9F0-0496431D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E57A4D-9A2F-28A4-BE7F-4770E859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92A809-D148-0EBB-0F9B-ECFE37535C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9" y="1417357"/>
            <a:ext cx="10807701" cy="4897718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Suggestions: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Key Price Drivers: Prioritize tracking ‘High’, ‘Low’, and ‘Open’ prices, as they significantly impact Bitcoin price predictions.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Short-Term Trends: Utilize ‘MA4’ and ‘Lag_1’ to capture short-term trends and adjust trading strategies based on recent market movements.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Volatility Risk: Since ‘Volatility’ and ‘Lag_2’ have minimal influence, avoid relying too much on long-term trends or volatility for predictions.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Real-Time Strategy: Integrate real-time data based on ‘MA4’ and ‘Lag_1’ to quickly adjust trading decisions during volatile market conditions.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Feature Selection: Streamline the model by focusing on high-impact features like ‘High’, ‘Low’, and ‘Open’, reducing noise from less influential data points.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Risk Management: Use ‘High’, ‘Low’, and ‘Open’ to create dynamic stop-loss strategies, protecting investments against sudden market shifts.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Seasonal Trends: Leverage key price drivers to identify and act on seasonal trends for better timing of market entry and exit.</a:t>
            </a:r>
          </a:p>
        </p:txBody>
      </p:sp>
    </p:spTree>
    <p:extLst>
      <p:ext uri="{BB962C8B-B14F-4D97-AF65-F5344CB8AC3E}">
        <p14:creationId xmlns:p14="http://schemas.microsoft.com/office/powerpoint/2010/main" val="180347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1249</TotalTime>
  <Words>2016</Words>
  <Application>Microsoft Office PowerPoint</Application>
  <PresentationFormat>Widescreen</PresentationFormat>
  <Paragraphs>187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Courier New</vt:lpstr>
      <vt:lpstr>Times New Roman</vt:lpstr>
      <vt:lpstr>Trade Gothic LT Pro</vt:lpstr>
      <vt:lpstr>Trebuchet MS</vt:lpstr>
      <vt:lpstr>Wingdings</vt:lpstr>
      <vt:lpstr>Office Theme</vt:lpstr>
      <vt:lpstr>Bitcoin Price Prediction</vt:lpstr>
      <vt:lpstr>Agenda</vt:lpstr>
      <vt:lpstr>Project Overview</vt:lpstr>
      <vt:lpstr>Dataset Overview</vt:lpstr>
      <vt:lpstr>Data Preprocessing</vt:lpstr>
      <vt:lpstr>Data Preprocessing</vt:lpstr>
      <vt:lpstr>Data Preprocessing</vt:lpstr>
      <vt:lpstr>Feature Engineering</vt:lpstr>
      <vt:lpstr>Data Exploration</vt:lpstr>
      <vt:lpstr>Data Exploration</vt:lpstr>
      <vt:lpstr>Data Exploration</vt:lpstr>
      <vt:lpstr>Data Exploration</vt:lpstr>
      <vt:lpstr>Data Exploration</vt:lpstr>
      <vt:lpstr>Data Exploration</vt:lpstr>
      <vt:lpstr>Data Exploration</vt:lpstr>
      <vt:lpstr>Data Exploration</vt:lpstr>
      <vt:lpstr>Data Exploration</vt:lpstr>
      <vt:lpstr>Model Deployment</vt:lpstr>
      <vt:lpstr>Model Deployment</vt:lpstr>
      <vt:lpstr>Model Deployment</vt:lpstr>
      <vt:lpstr>Model Evaluation</vt:lpstr>
      <vt:lpstr>Model Evaluation</vt:lpstr>
      <vt:lpstr>Model Evaluation</vt:lpstr>
      <vt:lpstr>Model Evaluation</vt:lpstr>
      <vt:lpstr>Model Evaluation</vt:lpstr>
      <vt:lpstr>Model Evaluation</vt:lpstr>
      <vt:lpstr>Model Evaluation</vt:lpstr>
      <vt:lpstr>Conclusion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Choudhary</dc:creator>
  <cp:lastModifiedBy>Rakesh Choudhary</cp:lastModifiedBy>
  <cp:revision>6</cp:revision>
  <dcterms:created xsi:type="dcterms:W3CDTF">2025-01-27T06:28:55Z</dcterms:created>
  <dcterms:modified xsi:type="dcterms:W3CDTF">2025-04-28T18:13:20Z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